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32720" cy="45720"/>
          </a:xfrm>
          <a:prstGeom prst="rect">
            <a:avLst/>
          </a:prstGeom>
          <a:solidFill>
            <a:srgbClr val="00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游戏美术任务管理表格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全量数据分析报告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跨5个项目 · 4张排期表 + 1张汇总仪表盘 · 10,000+条任务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分析日期: 2026-07-27 | 项目: 指尖三国 / 火影忍者 / 魔兽-H5 / 我叫MT | 工具: 飞书多维表格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2F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109728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分析项目数</a:t>
            </a:r>
          </a:p>
          <a:p>
            <a:pPr algn="ctr">
              <a:defRPr sz="2800" b="1">
                <a:solidFill>
                  <a:srgbClr val="00D2FF"/>
                </a:solidFill>
              </a:defRPr>
            </a:pPr>
            <a:r>
              <a:t>5 个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4张排期表 + 1张汇总表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743200" cy="109728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总分析任务量</a:t>
            </a:r>
          </a:p>
          <a:p>
            <a:pPr algn="ctr">
              <a:defRPr sz="2800" b="1">
                <a:solidFill>
                  <a:srgbClr val="00D2FF"/>
                </a:solidFill>
              </a:defRPr>
            </a:pPr>
            <a:r>
              <a:t>10,000+ 条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指尖三国2281 / 火影1600 / 魔兽4000+ / MT2000+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743200" cy="109728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共享核心字段</a:t>
            </a:r>
          </a:p>
          <a:p>
            <a:pPr algn="ctr">
              <a:defRPr sz="2800" b="1">
                <a:solidFill>
                  <a:srgbClr val="00E696"/>
                </a:solidFill>
              </a:defRPr>
            </a:pPr>
            <a:r>
              <a:t>29 个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所有表0个独有字段 — 高度标准化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468880" cy="109728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整体完成率</a:t>
            </a:r>
          </a:p>
          <a:p>
            <a:pPr algn="ctr">
              <a:defRPr sz="2800" b="1">
                <a:solidFill>
                  <a:srgbClr val="FF475C"/>
                </a:solidFill>
              </a:defRPr>
            </a:pPr>
            <a:r>
              <a:t>67~99%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火影67%需重点关注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475C"/>
                </a:solidFill>
              </a:defRPr>
            </a:pPr>
            <a:r>
              <a:t>🔴 严重问题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公式引擎全部失效 — Base schema &lt; v5，制作风险/预排期/距交付日无法 API 读取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火影忍者排期表疑似停滞 — 仅 2 条进行中，187 条未分配执行人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所有表均无任务依赖关系 — 上下游只能靠命名约定和备注沟通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043"/>
                </a:solidFill>
              </a:defRPr>
            </a:pPr>
            <a:r>
              <a:t>🟡 改进空间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难度字段缺失率 45-65%，品质字段缺失率 72% — 无法做资源评估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UI 任务拆分粒度过细 — 1 个界面拆 14-25 条子任务，虚高总数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外包管理信息分散 — 仅在执行人字段标注，无统一管理视图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进度状态完全手动 — 无自动化提醒或超期标记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四项目横向对比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Cross-Project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指尖三国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火影忍者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魔兽-H5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我叫MT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总任务量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2,281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1,600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~4,000+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~2,000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完成率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92.3% 🟢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67.2% 🔴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99.8% 🟢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99.1% 🟢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未完成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157 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480 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~0 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 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进行中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 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 条 ⚠️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 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 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 占比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外包占比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46.9%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P0+P1 占比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74.9%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48.8%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时间跨度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2026-02~07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2026-04~09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2024-12~2025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2026-03~07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项目阶段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量产收尾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疑似停滞 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未分配执行人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极少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187 条 🔴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各项目进度分布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Progress Distribution by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指尖三国 (2,281条)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25603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2,106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未开始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暂停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作废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进行中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4720" y="14630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75C"/>
                </a:solidFill>
              </a:defRPr>
            </a:pPr>
            <a:r>
              <a:t>火影忍者 (1,600条)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74720" y="1920240"/>
          <a:ext cx="25603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1,075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67.2%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未开始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暂停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作废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进行中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0.1% ⚠️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46304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96"/>
                </a:solidFill>
              </a:defRPr>
            </a:pPr>
            <a:r>
              <a:t>魔兽-H5 (~4,000条)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920240"/>
          <a:ext cx="25603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~3,992+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作废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~8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509760" y="146304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96"/>
                </a:solidFill>
              </a:defRPr>
            </a:pPr>
            <a:r>
              <a:t>我叫MT (~2,000条)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509760" y="1920240"/>
          <a:ext cx="2560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~1,991+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作废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未开始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75C"/>
                </a:solidFill>
              </a:defRPr>
            </a:pPr>
            <a:r>
              <a:t>🔴 火影忍者排期表 — 详细诊断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进行中仅 2 条 (0.1%) — 项目几乎无活跃工作，疑似排期表已停止维护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412 条未开始 (25.8%) — 大量任务积压但无人推进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187 条未分配执行人 (11.7%) — 无法确认由谁负责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332 条未排期 (20.8%) — 无计划开始/截止时间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16.5% 标准人日未填写 — 工时统计不完整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强烈建议与 PM 确认：排期管理是否已迁移到其他工具？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业务类型与人力分布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Business Type &amp; Person-Day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指尖三国 — 业务类型 × 人日占比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6692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业务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任务数(%)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人日(%)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均人日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UI界面设计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762 (42.3%)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494.8 (32.9%)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动作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178 (9.9%)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422.9 (28.1%)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2.38 ⚠️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角色原画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 (11.2%)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154.9 (10.3%)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战斗特效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117 (6.5%)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124.8 (8.3%)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功能图标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152 (8.4%)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41.4 (2.7%)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75C"/>
                </a:solidFill>
              </a:defRPr>
            </a:pPr>
            <a:r>
              <a:t>火影忍者 — 业务类型 × 人日占比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28800"/>
          <a:ext cx="56692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业务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任务数(%)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人日(%)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均人日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UI界面设计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658 (41.1%)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285.5 (22.0%)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动作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193 (12.1%)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193.7 (14.9%)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战斗特效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83 (5.2%)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225.5 (17.4%)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2.72 ⚠️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角色原画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198 (12.4%)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170.2 (13.1%)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UI动特效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 (5.3%)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91.5 (7.1%)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C42"/>
                </a:solidFill>
              </a:defRPr>
            </a:pPr>
            <a:r>
              <a:t>关键洞察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「动作」是最昂贵的品类 — 指尖三国均人日 2.38 (整体均值 0.84 的 2.8 倍)；火影战斗特效均 2.72 人日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「UI界面设计」任务量最多 (33-42%) 但人日占比低 (22-33%) — 说明 UI 单条任务量小、拆分过细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「功能图标」人日极低 (0.27) — 大量低难度图标任务拉低了整体均值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指尖三国「外包」占 46.9% 任务量 — 接近一半的工作由外包完成；火影外包仅 12.3%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人力分配分析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Personnel &amp; Workload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负责人 Top 5 — 指尖三国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4754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4630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主要业务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徐敏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608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UI为主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罗晋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16.4%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原画为主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周彩霞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图标为主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林家鑫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动作为主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张闻达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原画/场景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75C"/>
                </a:solidFill>
              </a:defRPr>
            </a:pPr>
            <a:r>
              <a:t>负责人 Top 5 — 火影忍者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28800"/>
          <a:ext cx="4754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4630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主要业务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张春兰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646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UI为主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罗晋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原画/拆图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聂丙坤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11.2%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原画为主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毛璐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PM/协调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周颖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动特效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74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执行人人日 Top 5 — 指尖三国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931920"/>
          <a:ext cx="4754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2801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执行人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均人日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外包肆野004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248.0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3.44 ⚠️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徐敏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114.2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外包-墨风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109.3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张闻达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106.7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魏东辉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474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75C"/>
                </a:solidFill>
              </a:defRPr>
            </a:pPr>
            <a:r>
              <a:t>执行人人日 Top 5 — 火影忍者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3931920"/>
          <a:ext cx="4754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2801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执行人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任务量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均人日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于海芳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3.59 ⚠️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何威君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75.3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彭璐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40.8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外包肆野022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杨浩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53.0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1.04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669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88888"/>
                </a:solidFill>
              </a:defRPr>
            </a:pPr>
            <a:r>
              <a:t>⚠️ 执行人均人日差异巨大 (0.27~3.59)，反映任务类型混合了高复杂度（动作/特效）和低复杂度（图标）工作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时间与月度趋势分析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Timeline &amp; Monthly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指尖三国 — 月度任务量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47548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4630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任务数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32.7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98.8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爬坡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341.5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加速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767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535.7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峰值 🔴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613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473.1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高位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18.5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收尾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75C"/>
                </a:solidFill>
              </a:defRPr>
            </a:pPr>
            <a:r>
              <a:t>火影忍者 — 月度任务量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0" y="1828800"/>
          <a:ext cx="47548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4630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任务数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148.1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爬坡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242.5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加速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882 🔴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685.2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峰值月!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49.5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骤降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2026-09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840480"/>
            <a:ext cx="11247120" cy="26517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C42"/>
                </a:solidFill>
              </a:defRPr>
            </a:pPr>
            <a:r>
              <a:t>时间维度的关键发现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指尖三国: 5月峰值后6月仍高位(613条)，7月骤降至16条 — 符合「量产→收尾」的节奏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火影忍者: 7月集中了882条截止任务(55%) + 332条未排期 — 要么是交付月冲刺，要么是排期数据质量差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火影忍者: 8-9月仅18条 — 排期表可能未覆盖后续版本规划 → 「活跃度低」的重要佐证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魔兽-H5 / 我叫MT: 时间跨度覆盖2024-2026，大部分已完成，属于历史归档项目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表格字段模型分析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Field Model &amp;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96"/>
                </a:solidFill>
              </a:defRPr>
            </a:pPr>
            <a:r>
              <a:t>统一的 29 字段模型 — 0 个独有字段，高度标准化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6217920" cy="608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09728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出现率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项目名称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主任务 / 子任务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业务类型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系统名称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JIRA链接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基础信息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期望效果(附件)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18/34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🟡 部分使用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版本号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优先级 (P0-P5)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 — 但P0+P1过高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开发阶段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计划开始/截止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期限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排期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实际开始/截止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22/34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🟡 部分使用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人力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负责人 / 执行人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人力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对接策划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✓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人力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标准人日 / 实际人日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34/34 / 8/34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🟢 标准 / 🟡 部分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人力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难度 (初中高)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32/34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🟡 大面积缺失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品质 (S+/S/A)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8/34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🟡 仅火影/MT使用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200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制作风险 / 预排期风险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8/34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🔴 全部失效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核心问题深度分析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Root Cause Analysis of Top 5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475C"/>
                </a:solidFill>
              </a:defRPr>
            </a:pPr>
            <a:r>
              <a:t>🔴 问题1: 公式引擎全部失效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所有5张表的 Base schema &lt; v5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制作风险/预排期风险/距交付日/实际人日 → 全部 API error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影响: 无法做自动化风险监控、无法集成到外部系统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修复: 飞书后台升级 Base 版本 (1次操作,全部修复)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475C"/>
                </a:solidFill>
              </a:defRPr>
            </a:pPr>
            <a:r>
              <a:t>🔴 问题2: 无任务依赖关系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当前模型: 仅记录时间，不记录依赖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拆图 → 依赖角色原画 → 表中无法体现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火影曾尝试用公式解决(角色上游资源到位时间)，但已失效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修复: 增加「前置任务」link字段 (飞书原生支持)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303520" cy="2286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C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C043"/>
                </a:solidFill>
              </a:defRPr>
            </a:pPr>
            <a:r>
              <a:t>🟡 问题3: 进度纯手动 + 无自动提醒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进度流转完全依赖人工更新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无超期自动标记、无开始日提醒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修复: 利用飞书多维表格自动化规则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- 计划开始=今天 → 通知执行人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- 已过截止+未完成 → 标记逾期+通知负责人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C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C043"/>
                </a:solidFill>
              </a:defRPr>
            </a:pPr>
            <a:r>
              <a:t>🟡 问题4: 数据质量参差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难度缺失: 指尖 65%, 火影 46% — 无法做复杂度评估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品质缺失: 火影 72% — 无法区分核心/普通产出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标准人日缺失: 火影 17% — 工时统计不准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• 修复: 设置字段为必填 + 定期数据质量审查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优化路线图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Optimization Roadmap — 分级落地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475C"/>
                </a:solidFill>
              </a:defRPr>
            </a:pPr>
            <a:r>
              <a:t>🔴 P0 — 立即修复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1. 升级 Base Schema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1次操作, 修复全部公式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2. 火影忍者表数据补齐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- 187条指定执行人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- 332条补充排期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与PM确认活跃状态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3. 统一任务拆分标准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UI: 按界面,不按页面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上限: 2-3人日/条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- 减少虚高任务数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48463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C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043"/>
                </a:solidFill>
              </a:defRPr>
            </a:pPr>
            <a:r>
              <a:t>🟡 P1 — 短期优化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4. 增加「阻塞原因」字段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多选: 等策划案/资源/技术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替代备注自由文本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5. 增加「前置任务」link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flink→本表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解决依赖追踪问题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6. 补充缺失数据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难度/品质/人日 必填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设置字段验证规则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7. 自动化规则配置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到期提醒 + 超期标记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96"/>
                </a:solidFill>
              </a:defRPr>
            </a:pPr>
            <a:r>
              <a:t>🟢 P2 — 中期改进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8. 外包管理子表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供应商/合同/质量评分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统一外包视图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9. 分层表格架构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L1 项目主表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L2 美术排期表(当前)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L3 资源规划盘点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L4 汇总仪表盘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10. 指标标准化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统一完成率/逾期率口径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建立定期报表机制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可视化看板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目标架构: 四层表格体系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Target Architecture — Layered Table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47120" cy="9144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F"/>
                </a:solidFill>
              </a:defRPr>
            </a:pPr>
            <a:r>
              <a:t>L1 项目主表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项目名称 · 总工期 · 总人日 · 里程碑 · 项目状态 · 主美/主程/主策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1247120" cy="9144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96"/>
                </a:solidFill>
              </a:defRPr>
            </a:pPr>
            <a:r>
              <a:t>L2 美术排期表 ★ 当前主力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任务级管理 · 排期 · 人力 · 依赖 · 风险 · 29字段标准模板 · 自动化规则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1247120" cy="9144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C42"/>
                </a:solidFill>
              </a:defRPr>
            </a:pPr>
            <a:r>
              <a:t>L3 资源规划-盘点 ★ 已有4张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角色 · 场景 · UI · 图标 — 按类别盘点资源清单 · 关联排期表 · 版本规划量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FFC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043"/>
                </a:solidFill>
              </a:defRPr>
            </a:pPr>
            <a:r>
              <a:t>L4 汇总仪表盘 ★ 目前仅1张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035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按组别/版本/周聚合 · 进度可视化 · 风险预警 · 管理层视角 · 定期自动刷新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32720" cy="45720"/>
          </a:xfrm>
          <a:prstGeom prst="rect">
            <a:avLst/>
          </a:prstGeom>
          <a:solidFill>
            <a:srgbClr val="00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✅  5张表共享29字段标准模板 — 团队已具备成熟的表格管理能力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🔴 最紧急: 升级Base Schema → 修复公式预警系统 → 补齐火影忍者数据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🟡 最值得: 增加任务依赖关系 → 建立阻塞原因分类 → 配置自动化规则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🟢 长期: 四层表格架构 → 指标标准化 → 外包管理模块 → 数据驱动决策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📊  当前核心指标: 整体完成率 67~99% | 月峰值产能 535~685 人日 | 外包占比 12~47%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6692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— 报告完毕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